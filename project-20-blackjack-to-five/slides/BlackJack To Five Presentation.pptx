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63" r:id="rId3"/>
    <p:sldId id="264" r:id="rId4"/>
    <p:sldId id="259" r:id="rId5"/>
    <p:sldId id="258" r:id="rId6"/>
    <p:sldId id="260" r:id="rId7"/>
    <p:sldId id="261" r:id="rId8"/>
    <p:sldId id="262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691C05-CA7B-D66E-FAA8-2F5921A1BA2B}" v="362" dt="2025-12-02T23:30:52.550"/>
    <p1510:client id="{7C68F6B4-4DB6-4722-9226-06216E06CA5C}" v="1" dt="2025-12-03T16:29:56.107"/>
    <p1510:client id="{98F5FA85-98A3-FBDF-2C3A-016D475F61D4}" v="556" dt="2025-12-01T20:46:26.2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20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66B9E-4780-4501-B6E1-79A13FBE828A}" type="datetimeFigureOut"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6FAFF5-E399-439A-AFF7-B4473CD8AD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44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Introduction Slide: Start by one person introducing the audience to our project, and the joint effort we provided to collectively work on and implement our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FAFF5-E399-439A-AFF7-B4473CD8ADE3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14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dirty="0"/>
              <a:t>Be sure to emphasize main idea behind the dealer not showing their hand, making it more difficult for players to know what they're up against during each round.</a:t>
            </a:r>
            <a:br>
              <a:rPr lang="en-US" dirty="0">
                <a:cs typeface="+mn-lt"/>
              </a:rPr>
            </a:br>
            <a:endParaRPr lang="en-US"/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Same idea behind a normal game of blackjack and its rules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Main difference is the rotation of a dealer and that dealer hides their hand until the </a:t>
            </a:r>
            <a:r>
              <a:rPr lang="en-US" dirty="0" err="1"/>
              <a:t>endof</a:t>
            </a:r>
            <a:r>
              <a:rPr lang="en-US" dirty="0"/>
              <a:t> the round when all players have ended their turns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Aim of the game is to reach 5 round wins, either by winning as the dealer or a player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One deck used for better odds for the players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Deck is shuffled after each round, giving the odds back to the house (dealer)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Minimum of 3 and maximum of 7 players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Prompts for each player's name and if they wish to play (human) or let the </a:t>
            </a:r>
            <a:r>
              <a:rPr lang="en-US" dirty="0" err="1"/>
              <a:t>computerplay</a:t>
            </a:r>
            <a:r>
              <a:rPr lang="en-US" dirty="0"/>
              <a:t> (</a:t>
            </a:r>
            <a:r>
              <a:rPr lang="en-US" dirty="0" err="1"/>
              <a:t>cpu</a:t>
            </a:r>
            <a:r>
              <a:rPr lang="en-US" dirty="0"/>
              <a:t> feature)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FAFF5-E399-439A-AFF7-B4473CD8ADE3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82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Card class allowed us to output the rank and symbol of each card in a player's/dealer's hand and also track their values </a:t>
            </a:r>
            <a:r>
              <a:rPr lang="en-US" err="1"/>
              <a:t>withthe</a:t>
            </a:r>
            <a:r>
              <a:rPr lang="en-US"/>
              <a:t> Rank </a:t>
            </a:r>
            <a:r>
              <a:rPr lang="en-US" err="1"/>
              <a:t>enum</a:t>
            </a:r>
            <a:r>
              <a:rPr lang="en-US"/>
              <a:t> class.</a:t>
            </a: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Pile class and Deck class allowed us to keep track of the cards we were using (excluding jokers) in the deck to shuffle </a:t>
            </a:r>
            <a:r>
              <a:rPr lang="en-US" dirty="0" err="1"/>
              <a:t>anddeal</a:t>
            </a:r>
            <a:r>
              <a:rPr lang="en-US" dirty="0"/>
              <a:t> to players. 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Stock class allowed us to implement the specialty feature to have the dealer's hand face down for all players until they </a:t>
            </a:r>
            <a:r>
              <a:rPr lang="en-US" dirty="0" err="1"/>
              <a:t>werefinished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Player class allowed us to create multiple players and allow them to participate either by their own decision or by CPU-generate decision.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Hand class allowed us to interact with the top of the deck, making the dealer feature work flawlessly and seamlessly.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FAFF5-E399-439A-AFF7-B4473CD8ADE3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390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The following three slides are to be presented by one group member each, preferably each member should understand every class well enough to present on all 3 classes, but still aim for high level of understanding to properly and thoroughly be able to discuss the function and purpose on the selected class.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ea typeface="Calibri"/>
                <a:cs typeface="Calibri"/>
              </a:rPr>
              <a:t>Mention capabilities of both human() and </a:t>
            </a:r>
            <a:r>
              <a:rPr lang="en-US" dirty="0" err="1">
                <a:ea typeface="Calibri"/>
                <a:cs typeface="Calibri"/>
              </a:rPr>
              <a:t>cpu</a:t>
            </a:r>
            <a:r>
              <a:rPr lang="en-US" dirty="0">
                <a:ea typeface="Calibri"/>
                <a:cs typeface="Calibri"/>
              </a:rPr>
              <a:t>() methods, </a:t>
            </a:r>
            <a:r>
              <a:rPr lang="en-US" dirty="0" err="1">
                <a:ea typeface="Calibri"/>
                <a:cs typeface="Calibri"/>
              </a:rPr>
              <a:t>rotateDealer</a:t>
            </a:r>
            <a:r>
              <a:rPr lang="en-US" dirty="0">
                <a:ea typeface="Calibri"/>
                <a:cs typeface="Calibri"/>
              </a:rPr>
              <a:t>(), </a:t>
            </a:r>
            <a:r>
              <a:rPr lang="en-US" dirty="0" err="1">
                <a:ea typeface="Calibri"/>
                <a:cs typeface="Calibri"/>
              </a:rPr>
              <a:t>printPlayer</a:t>
            </a:r>
            <a:r>
              <a:rPr lang="en-US" dirty="0">
                <a:ea typeface="Calibri"/>
                <a:cs typeface="Calibri"/>
              </a:rPr>
              <a:t>() and rules() helper methods to enhance flow of program.</a:t>
            </a:r>
          </a:p>
          <a:p>
            <a:endParaRPr lang="en-US" dirty="0">
              <a:ea typeface="Calibri"/>
              <a:cs typeface="Calibri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Main driver class to handle program running and inheritance of </a:t>
            </a:r>
            <a:r>
              <a:rPr lang="en-US" err="1"/>
              <a:t>BlackJackUtils</a:t>
            </a:r>
            <a:r>
              <a:rPr lang="en-US"/>
              <a:t> </a:t>
            </a:r>
            <a:r>
              <a:rPr lang="en-US" err="1"/>
              <a:t>andBlackJackPlayers</a:t>
            </a:r>
            <a:r>
              <a:rPr lang="en-US"/>
              <a:t> class layout and functionality.</a:t>
            </a: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Contains methods that handle player hand outcomes after their decision to hit/</a:t>
            </a:r>
            <a:r>
              <a:rPr lang="en-US" err="1"/>
              <a:t>standon</a:t>
            </a:r>
            <a:r>
              <a:rPr lang="en-US"/>
              <a:t> a card.</a:t>
            </a: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Allows players to also choose to have a CPU simulate their hand for them, acting </a:t>
            </a:r>
            <a:r>
              <a:rPr lang="en-US" dirty="0" err="1"/>
              <a:t>asa</a:t>
            </a:r>
            <a:r>
              <a:rPr lang="en-US" dirty="0"/>
              <a:t> structural guide for them to learn how the game's numerical logic functions.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Runs game until a player provided at the start of the program wins 5 rounds </a:t>
            </a:r>
            <a:r>
              <a:rPr lang="en-US" dirty="0" err="1"/>
              <a:t>ofblackjack</a:t>
            </a:r>
            <a:r>
              <a:rPr lang="en-US" dirty="0"/>
              <a:t>, accomplishing our goal of </a:t>
            </a:r>
            <a:r>
              <a:rPr lang="en-US" dirty="0" err="1"/>
              <a:t>BlackJackToFive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FAFF5-E399-439A-AFF7-B4473CD8ADE3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7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Main idea behind the </a:t>
            </a:r>
            <a:r>
              <a:rPr lang="en-US" dirty="0" err="1">
                <a:ea typeface="Calibri"/>
                <a:cs typeface="Calibri"/>
              </a:rPr>
              <a:t>BlackJackPlayers</a:t>
            </a:r>
            <a:r>
              <a:rPr lang="en-US" dirty="0">
                <a:ea typeface="Calibri"/>
                <a:cs typeface="Calibri"/>
              </a:rPr>
              <a:t> is to allow the individual players during the program to determine the value of their hand and the rotation of the dealer (which is handled within </a:t>
            </a:r>
            <a:r>
              <a:rPr lang="en-US" dirty="0" err="1">
                <a:ea typeface="Calibri"/>
                <a:cs typeface="Calibri"/>
              </a:rPr>
              <a:t>BlackJackToFive</a:t>
            </a:r>
            <a:r>
              <a:rPr lang="en-US" dirty="0">
                <a:ea typeface="Calibri"/>
                <a:cs typeface="Calibri"/>
              </a:rPr>
              <a:t>), as well as the tally for their round wins.</a:t>
            </a:r>
          </a:p>
          <a:p>
            <a:endParaRPr lang="en-US" dirty="0">
              <a:ea typeface="Calibri"/>
              <a:cs typeface="Calibri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Provides capabilities for players during the program to receive a card, return the list </a:t>
            </a:r>
            <a:r>
              <a:rPr lang="en-US" dirty="0" err="1"/>
              <a:t>ofcards</a:t>
            </a:r>
            <a:r>
              <a:rPr lang="en-US" dirty="0"/>
              <a:t> in their hand, and returning the round wins, potential bust of a hand, </a:t>
            </a:r>
            <a:r>
              <a:rPr lang="en-US" dirty="0" err="1"/>
              <a:t>andreshuffling</a:t>
            </a:r>
            <a:r>
              <a:rPr lang="en-US" dirty="0"/>
              <a:t> of the deck after each round.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Utilizes methods both from </a:t>
            </a:r>
            <a:r>
              <a:rPr lang="en-US" dirty="0" err="1"/>
              <a:t>BlackJackUtils</a:t>
            </a:r>
            <a:r>
              <a:rPr lang="en-US" dirty="0"/>
              <a:t> and the Collections Java framework, as </a:t>
            </a:r>
            <a:r>
              <a:rPr lang="en-US" dirty="0" err="1"/>
              <a:t>wellas</a:t>
            </a:r>
            <a:r>
              <a:rPr lang="en-US" dirty="0"/>
              <a:t> a few provided classes for this project (Pile and Card).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Big enhancement of the class is that it allows creation of a player with the '</a:t>
            </a:r>
            <a:r>
              <a:rPr lang="en-US" dirty="0" err="1"/>
              <a:t>human'capability</a:t>
            </a:r>
            <a:r>
              <a:rPr lang="en-US" dirty="0"/>
              <a:t> to control the outcome of their hand, or the instantiation of the </a:t>
            </a:r>
            <a:r>
              <a:rPr lang="en-US" dirty="0" err="1"/>
              <a:t>previouslymentioned</a:t>
            </a:r>
            <a:r>
              <a:rPr lang="en-US" dirty="0"/>
              <a:t> CPU feature to automatically run the outcome of their hand.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FAFF5-E399-439A-AFF7-B4473CD8ADE3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72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Mainly discuss that this class handles specific rules / outcomes that pertain to blackjack during each round.</a:t>
            </a:r>
          </a:p>
          <a:p>
            <a:endParaRPr lang="en-US" dirty="0">
              <a:ea typeface="Calibri"/>
              <a:cs typeface="Calibri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Logic handling class to determine hand outcomes with each card value (</a:t>
            </a:r>
            <a:r>
              <a:rPr lang="en-US" err="1"/>
              <a:t>excludingJokers</a:t>
            </a:r>
            <a:r>
              <a:rPr lang="en-US"/>
              <a:t>).</a:t>
            </a: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Handles the hand value logic that is called upon in </a:t>
            </a:r>
            <a:r>
              <a:rPr lang="en-US" err="1"/>
              <a:t>BlackJackPlayers</a:t>
            </a:r>
            <a:r>
              <a:rPr lang="en-US"/>
              <a:t>, mainly with </a:t>
            </a:r>
            <a:r>
              <a:rPr lang="en-US" err="1"/>
              <a:t>thecapability</a:t>
            </a:r>
            <a:r>
              <a:rPr lang="en-US"/>
              <a:t> to automatically turn hard ace ('11') into soft ace ('1') if the hand value </a:t>
            </a:r>
            <a:r>
              <a:rPr lang="en-US" err="1"/>
              <a:t>ispredicted</a:t>
            </a:r>
            <a:r>
              <a:rPr lang="en-US"/>
              <a:t> to bust.</a:t>
            </a: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Group decision to allow for automatic/real-world simulation in blackjack where </a:t>
            </a:r>
            <a:r>
              <a:rPr lang="en-US" dirty="0" err="1"/>
              <a:t>goingbust</a:t>
            </a:r>
            <a:r>
              <a:rPr lang="en-US" dirty="0"/>
              <a:t> is not practical, so instead of allowing player's choice to change the value of </a:t>
            </a:r>
            <a:r>
              <a:rPr lang="en-US" dirty="0" err="1"/>
              <a:t>theace</a:t>
            </a:r>
            <a:r>
              <a:rPr lang="en-US" dirty="0"/>
              <a:t>, it is handled by the program instead.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Also allocates for a method to check if the player has reached blackjack (21) either </a:t>
            </a:r>
            <a:r>
              <a:rPr lang="en-US" dirty="0" err="1"/>
              <a:t>bybeing</a:t>
            </a:r>
            <a:r>
              <a:rPr lang="en-US" dirty="0"/>
              <a:t> dealt two cards to total 21 or by reaching 21 after hitting at least once </a:t>
            </a:r>
            <a:r>
              <a:rPr lang="en-US" dirty="0" err="1"/>
              <a:t>duringtheir</a:t>
            </a:r>
            <a:r>
              <a:rPr lang="en-US" dirty="0"/>
              <a:t> turn.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FAFF5-E399-439A-AFF7-B4473CD8ADE3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4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There were difficulties handling how to rotate the dealer properly, as we decided in Part 1 that a player (that could also be a dealer) could win the game by only winning </a:t>
            </a:r>
            <a:r>
              <a:rPr lang="en-US" dirty="0" err="1"/>
              <a:t>asthe</a:t>
            </a:r>
            <a:r>
              <a:rPr lang="en-US" dirty="0"/>
              <a:t> dealer or still win as a player beating the house.</a:t>
            </a: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Adding the method to logically and efficiently handle this was key to allocate for one of our main ideas in designing this game.</a:t>
            </a: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Another big problem was the capability to track the cards each player had received, which would allow us to tally up their hand value and determine if they had gone </a:t>
            </a:r>
            <a:r>
              <a:rPr lang="en-US" dirty="0" err="1"/>
              <a:t>bust,got</a:t>
            </a:r>
            <a:r>
              <a:rPr lang="en-US" dirty="0"/>
              <a:t> blackjack, or had a higher hand value over the dealer/other players which ultimately concluded if that player had one the round or not.</a:t>
            </a: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Implementing the precedence of the rotation (first player to go in each round has better odds of winning should there be a tie) and an automatic win to the dealer </a:t>
            </a:r>
            <a:r>
              <a:rPr lang="en-US" dirty="0" err="1"/>
              <a:t>shouldthey</a:t>
            </a:r>
            <a:r>
              <a:rPr lang="en-US" dirty="0"/>
              <a:t> be tied with the player(s) gave us confidence to ensure the game was not tailored to the player having better odds to win over the house.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FAFF5-E399-439A-AFF7-B4473CD8ADE3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687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Cleaner UI could enhance experience for users to not only understand what the </a:t>
            </a:r>
            <a:r>
              <a:rPr lang="en-US" dirty="0" err="1"/>
              <a:t>gamerules</a:t>
            </a:r>
            <a:r>
              <a:rPr lang="en-US" dirty="0"/>
              <a:t>/edge cases are but also have a clearer explanation during the running of </a:t>
            </a:r>
            <a:r>
              <a:rPr lang="en-US" dirty="0" err="1"/>
              <a:t>theprogram</a:t>
            </a:r>
            <a:r>
              <a:rPr lang="en-US" dirty="0"/>
              <a:t> to better handle the potential for confusion in a given situation.</a:t>
            </a:r>
          </a:p>
          <a:p>
            <a:pPr marL="171450" indent="-171450">
              <a:lnSpc>
                <a:spcPct val="12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Could easily handle more players/desired round wins by adding a second deck </a:t>
            </a:r>
            <a:r>
              <a:rPr lang="en-US" dirty="0" err="1"/>
              <a:t>ofcards</a:t>
            </a:r>
            <a:r>
              <a:rPr lang="en-US" dirty="0"/>
              <a:t> into the game and having a deck that does not get shuffled until it reaches </a:t>
            </a:r>
            <a:r>
              <a:rPr lang="en-US" dirty="0" err="1"/>
              <a:t>acertain</a:t>
            </a:r>
            <a:r>
              <a:rPr lang="en-US" dirty="0"/>
              <a:t> buffer, giving the players better odds and still having the house in favor </a:t>
            </a:r>
            <a:r>
              <a:rPr lang="en-US" dirty="0" err="1"/>
              <a:t>ofwinning</a:t>
            </a:r>
            <a:r>
              <a:rPr lang="en-US" dirty="0"/>
              <a:t> with another deck in play.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6FAFF5-E399-439A-AFF7-B4473CD8ADE3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33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98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89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370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020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447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8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135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74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948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15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857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31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433872D-A699-777C-5992-72E5AC5B6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 2000 Data Structures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91C1B73-9990-7FA8-9AC6-D4CADDF15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Project 2: List App Card Game -&gt; </a:t>
            </a:r>
            <a:r>
              <a:rPr lang="en-US" dirty="0" err="1"/>
              <a:t>BlackJackToFive</a:t>
            </a:r>
            <a:endParaRPr lang="en-US"/>
          </a:p>
          <a:p>
            <a:pPr marL="0" indent="0">
              <a:buNone/>
            </a:pPr>
            <a:r>
              <a:rPr lang="en-US" dirty="0"/>
              <a:t>Group 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BlackJackToFive</a:t>
            </a:r>
            <a:r>
              <a:rPr lang="en-US" dirty="0"/>
              <a:t>: Will Weeks / Troy Gayle / Gurveer Sidhu</a:t>
            </a:r>
          </a:p>
          <a:p>
            <a:pPr marL="0" indent="0">
              <a:buNone/>
            </a:pPr>
            <a:r>
              <a:rPr lang="en-US" dirty="0" err="1"/>
              <a:t>BlackJackPlayer</a:t>
            </a:r>
            <a:r>
              <a:rPr lang="en-US" dirty="0"/>
              <a:t>: Will Weeks / Troy Gayle / Gurveer Sidhu</a:t>
            </a:r>
          </a:p>
          <a:p>
            <a:pPr marL="0" indent="0">
              <a:buNone/>
            </a:pPr>
            <a:r>
              <a:rPr lang="en-US" dirty="0" err="1"/>
              <a:t>BlackJackUtils</a:t>
            </a:r>
            <a:r>
              <a:rPr lang="en-US" dirty="0"/>
              <a:t>: Will Weeks / Troy Gayle / Gurveer Sidhu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89B2DD5-2F63-3B30-F4AD-9E51E36A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9893ADCF-D414-4917-A73F-CCB81FB3CAB6}" type="datetime1">
              <a:rPr lang="en-US"/>
              <a:pPr>
                <a:spcAft>
                  <a:spcPts val="600"/>
                </a:spcAft>
              </a:pPr>
              <a:t>12/3/2025</a:t>
            </a:fld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42D48E5-BA8E-A691-0448-EDCB140B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4D14-829F-109F-D6A8-D4D10AF06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</a:t>
            </a:r>
            <a:r>
              <a:rPr lang="en-US" dirty="0" err="1"/>
              <a:t>BlackJackToFive</a:t>
            </a:r>
            <a:r>
              <a:rPr lang="en-US" dirty="0"/>
              <a:t>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1553E-D2DF-A9D6-D308-299AA1013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Follows the core rules of standard blackjack.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Dealer role rotates each round and keeps their hand hidden until all players finish.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First to </a:t>
            </a:r>
            <a:r>
              <a:rPr lang="en-US" b="1" dirty="0">
                <a:ea typeface="+mn-lt"/>
                <a:cs typeface="+mn-lt"/>
              </a:rPr>
              <a:t>5 round victories </a:t>
            </a:r>
            <a:r>
              <a:rPr lang="en-US" dirty="0">
                <a:ea typeface="+mn-lt"/>
                <a:cs typeface="+mn-lt"/>
              </a:rPr>
              <a:t>win the game—whether as dealer or player.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Uses a single deck for better player odds.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Deck is reshuffled after each round, restoring house advantage.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Supports </a:t>
            </a:r>
            <a:r>
              <a:rPr lang="en-US" b="1" dirty="0">
                <a:ea typeface="+mn-lt"/>
                <a:cs typeface="+mn-lt"/>
              </a:rPr>
              <a:t>3–7 players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Prompts each player for their name and whether they are human or CPU-controlled.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A423F-A801-D2B5-7977-2FAA4C1D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FA024-BBFE-480E-9EB3-AA70126F8D7B}" type="datetime1"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9D8B2-3FA6-01FE-2BEB-41C0EE9F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75FEA-EDED-E444-2864-8C7AA0A13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0A062-D699-E40E-B580-0634F8A0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with provided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0C2A1-E89B-D619-DA98-932519613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Card class:</a:t>
            </a:r>
            <a:r>
              <a:rPr lang="en-US" dirty="0">
                <a:ea typeface="+mn-lt"/>
                <a:cs typeface="+mn-lt"/>
              </a:rPr>
              <a:t> Displays each card’s rank and suit and uses the </a:t>
            </a:r>
            <a:r>
              <a:rPr lang="en-US" dirty="0">
                <a:latin typeface="Consolas"/>
              </a:rPr>
              <a:t>Rank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enum</a:t>
            </a:r>
            <a:r>
              <a:rPr lang="en-US" dirty="0">
                <a:ea typeface="+mn-lt"/>
                <a:cs typeface="+mn-lt"/>
              </a:rPr>
              <a:t> to track card values.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Pile &amp; Deck classes:</a:t>
            </a:r>
            <a:r>
              <a:rPr lang="en-US">
                <a:ea typeface="+mn-lt"/>
                <a:cs typeface="+mn-lt"/>
              </a:rPr>
              <a:t> Manage the active deck (excluding Jokers), handle shuffling, and deal cards to players.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Stock class:</a:t>
            </a:r>
            <a:r>
              <a:rPr lang="en-US">
                <a:ea typeface="+mn-lt"/>
                <a:cs typeface="+mn-lt"/>
              </a:rPr>
              <a:t> Enables the feature where the dealer’s hand stays hidden until all players finish their turns.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Player class:</a:t>
            </a:r>
            <a:r>
              <a:rPr lang="en-US">
                <a:ea typeface="+mn-lt"/>
                <a:cs typeface="+mn-lt"/>
              </a:rPr>
              <a:t> Lets us create multiple players—either human-controlled or CPU-controlled—who can participate each round.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Hand class:</a:t>
            </a:r>
            <a:r>
              <a:rPr lang="en-US">
                <a:ea typeface="+mn-lt"/>
                <a:cs typeface="+mn-lt"/>
              </a:rPr>
              <a:t> Handles drawing from the top of the deck, supporting smooth implementation of the dealer’s hidden-hand mechanic.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9D202-BEA3-FC39-6C22-F5315DB5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131D7-8F8A-4CC5-9DED-7F5D01702648}" type="datetime1"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D7A38-1E28-9C30-BB53-7BF67063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37488-0B67-2743-3C14-E4F634C2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274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8F360-34FC-5B18-00AB-DBB7625F5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BlackJackToFive</a:t>
            </a:r>
            <a:r>
              <a:rPr lang="en-US" dirty="0"/>
              <a:t> Main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2F126-1A0A-7F32-ECC0-02D0D43D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Main driver class that runs the game and ties together </a:t>
            </a:r>
            <a:r>
              <a:rPr lang="en-US" i="1" dirty="0" err="1">
                <a:ea typeface="+mn-lt"/>
                <a:cs typeface="+mn-lt"/>
              </a:rPr>
              <a:t>BlackJackUtils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i="1" dirty="0" err="1">
                <a:ea typeface="+mn-lt"/>
                <a:cs typeface="+mn-lt"/>
              </a:rPr>
              <a:t>BlackJackPlayers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Contains logic for resolving player decisions (hit/stand) and hand outcomes.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Supports CPU-controlled players to simulate decision-making and teach the game’s numerical logic.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Continues gameplay until a player reaches 5 wins, completing the </a:t>
            </a:r>
            <a:r>
              <a:rPr lang="en-US" dirty="0" err="1">
                <a:ea typeface="+mn-lt"/>
                <a:cs typeface="+mn-lt"/>
              </a:rPr>
              <a:t>BlackJackToFive</a:t>
            </a:r>
            <a:r>
              <a:rPr lang="en-US" dirty="0">
                <a:ea typeface="+mn-lt"/>
                <a:cs typeface="+mn-lt"/>
              </a:rPr>
              <a:t> objective.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61586-64D2-24EA-5978-C980099BD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36A4E-E205-4A22-A153-D7632F6B9FA2}" type="datetime1"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C6E02-58E3-1272-7609-F9E6000F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20FC3-F51D-606A-3B13-ED7141CE5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14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1B593-644C-A0D5-CCCE-CF0E96ABA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BlackJackPlayers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6C973-CE73-D2D5-C38D-6A78D13FF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Handles receiving cards, returning hand contents, tracking round wins, and checking for busts.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Manages deck reshuffling after each round.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Uses methods from </a:t>
            </a:r>
            <a:r>
              <a:rPr lang="en-US" i="1" dirty="0" err="1">
                <a:ea typeface="+mn-lt"/>
                <a:cs typeface="+mn-lt"/>
              </a:rPr>
              <a:t>BlackJackUtils</a:t>
            </a:r>
            <a:r>
              <a:rPr lang="en-US" dirty="0">
                <a:ea typeface="+mn-lt"/>
                <a:cs typeface="+mn-lt"/>
              </a:rPr>
              <a:t>, Java Collections, and provided project classes (</a:t>
            </a:r>
            <a:r>
              <a:rPr lang="en-US" i="1" dirty="0">
                <a:ea typeface="+mn-lt"/>
                <a:cs typeface="+mn-lt"/>
              </a:rPr>
              <a:t>Pile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i="1" dirty="0">
                <a:ea typeface="+mn-lt"/>
                <a:cs typeface="+mn-lt"/>
              </a:rPr>
              <a:t>Card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Allows creation of human-controlled or CPU-controlled players.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D62B8-4472-2ECB-7746-767877A8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5AC6-211D-45DC-9099-FAA816ABAF5C}" type="datetime1"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4AA53-BDCB-9C40-9004-EA6EA5A60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02FE1-A0F0-0E6D-FA15-8599B0457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100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9D8F5-EED3-B5D2-6B70-E873F0F6F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BlackJackUtils</a:t>
            </a:r>
            <a:r>
              <a:rPr lang="en-US" dirty="0"/>
              <a:t>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8D32A-3092-DFD2-1E46-4F9DBCC75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Core logic for evaluating hand values (no Jokers included).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Automatically converts hard aces (11) to soft aces (1) to prevent unnecessary busts.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Simulates real blackjack behavior by managing ace values automatically rather than prompting the player.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Provides blackjack detection for hands starting at 21 or reaching 21 after hits.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3F126-3E64-31D2-0465-037A14E5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3A908-06DB-4B6B-B575-D04222C62291}" type="datetime1"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A7182-49AF-AA96-2575-63B06866E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BEC55-D9F9-753D-79F2-14DB4F3E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222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4E42-4593-C625-5187-FCA80CF2F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476D3-CE8C-C414-DCA4-B52EE1D9B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30930"/>
            <a:ext cx="10653579" cy="54659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Challenge: Implementing proper dealer rotation while allowing players to win as either dealer or player.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Solution:</a:t>
            </a:r>
            <a:r>
              <a:rPr lang="en-US" dirty="0">
                <a:ea typeface="+mn-lt"/>
                <a:cs typeface="+mn-lt"/>
              </a:rPr>
              <a:t> Added a method to rotate and track dealer status efficiently.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Challenge: Tracking player hands to calculate values, detect busts/blackjacks, and determine winners.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Solution:</a:t>
            </a:r>
            <a:r>
              <a:rPr lang="en-US" dirty="0">
                <a:ea typeface="+mn-lt"/>
                <a:cs typeface="+mn-lt"/>
              </a:rPr>
              <a:t> Built reliable card tracking and comparison logic.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Introduced round precedence (first player has advantage in ties). Dealer wins ties to maintain realistic house odds.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EAC15-9BBC-69CB-F9DA-D79F373A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BE11C-51F6-445D-A38C-80E76C3D3479}" type="datetime1"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B88BE-184D-B484-D469-FD99468C0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66205-CD11-BED9-6DE4-F1C882AF8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90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E727F-7191-977E-7195-9927EA5E3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26C03-2FCF-680A-1A34-0BDCAE851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 cleaner UI would make rules and edge cases clearer and reduce confusion during gameplay.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Adding a second deck could support more players or higher win targets while balancing player odds with house advantage.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B3D5E-D6F1-C752-B28D-81814688C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D9AFE-7A08-40A5-82EE-FF169DA7BED2}" type="datetime1"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9BBD-11D3-9275-46B0-4305E1DF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15CEB-BE72-459F-9079-757AE0DFC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98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E3D80-57B7-BD32-B745-7CE64206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8D7A-8B88-4F3D-915C-FAD98D7D8681}" type="datetime1"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E60F7-9825-373E-5D81-01B23BBF8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0E035-AECE-B2F6-646B-CBD59BD7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ECA60A0-CEEE-6320-6F72-BAC7ED1C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2962" y="2862182"/>
            <a:ext cx="4034276" cy="1132258"/>
          </a:xfrm>
        </p:spPr>
        <p:txBody>
          <a:bodyPr>
            <a:noAutofit/>
          </a:bodyPr>
          <a:lstStyle/>
          <a:p>
            <a:r>
              <a:rPr lang="en-US" sz="96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946320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A68D-0572-4049-AD3E-0B9CD31C1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2479" y="2853001"/>
            <a:ext cx="3566061" cy="1150619"/>
          </a:xfrm>
        </p:spPr>
        <p:txBody>
          <a:bodyPr>
            <a:noAutofit/>
          </a:bodyPr>
          <a:lstStyle/>
          <a:p>
            <a:r>
              <a:rPr lang="en-US" sz="9600" dirty="0"/>
              <a:t>Q&amp;A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BA31E-403F-BC38-6602-A7D1F2FA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AD28-0128-439A-A5F1-8DFCEA1BAB3C}" type="datetime1"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CF01F-697A-87CD-DB49-E7B2D11BF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A0907-A744-7D39-3EA2-0BF65A3B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152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8B4F-BBB0-2744-EB9E-88D1C6509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431A-EC09-D220-799E-FCC2E08F4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914" y="2853001"/>
            <a:ext cx="7798372" cy="1150619"/>
          </a:xfrm>
        </p:spPr>
        <p:txBody>
          <a:bodyPr>
            <a:noAutofit/>
          </a:bodyPr>
          <a:lstStyle/>
          <a:p>
            <a:r>
              <a:rPr lang="en-US" sz="9600" dirty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744C1-3B7F-912C-477E-558A99950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CAD28-0128-439A-A5F1-8DFCEA1BAB3C}" type="datetime1">
              <a:t>12/3/2025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581FA-993D-485B-163C-ABAD31A2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5C042-04B4-02F4-BB66-05C02F4A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65251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1624</Words>
  <Application>Microsoft Office PowerPoint</Application>
  <PresentationFormat>Widescreen</PresentationFormat>
  <Paragraphs>123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Neue Haas Grotesk Text Pro</vt:lpstr>
      <vt:lpstr>VanillaVTI</vt:lpstr>
      <vt:lpstr>COMP 2000 Data Structures</vt:lpstr>
      <vt:lpstr>About BlackJackToFive </vt:lpstr>
      <vt:lpstr>Interaction with provided classes</vt:lpstr>
      <vt:lpstr>BlackJackToFive Main Class</vt:lpstr>
      <vt:lpstr>BlackJackPlayers Class</vt:lpstr>
      <vt:lpstr>BlackJackUtils Class</vt:lpstr>
      <vt:lpstr>Issues and Solutions</vt:lpstr>
      <vt:lpstr>Takeaways</vt:lpstr>
      <vt:lpstr>DEMO</vt:lpstr>
      <vt:lpstr>Q&amp;A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Gurveer Sidhu</dc:creator>
  <cp:lastModifiedBy>Sidhu, Gurveer S</cp:lastModifiedBy>
  <cp:revision>434</cp:revision>
  <dcterms:created xsi:type="dcterms:W3CDTF">2025-11-19T20:57:29Z</dcterms:created>
  <dcterms:modified xsi:type="dcterms:W3CDTF">2025-12-03T16:29:56Z</dcterms:modified>
</cp:coreProperties>
</file>
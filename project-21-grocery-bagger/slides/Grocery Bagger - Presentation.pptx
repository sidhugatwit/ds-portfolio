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62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61" r:id="rId4"/>
    <p:sldId id="262" r:id="rId5"/>
    <p:sldId id="259" r:id="rId6"/>
    <p:sldId id="263" r:id="rId7"/>
    <p:sldId id="264" r:id="rId8"/>
    <p:sldId id="260" r:id="rId9"/>
  </p:sldIdLst>
  <p:sldSz cx="12192000" cy="6858000"/>
  <p:notesSz cx="68580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IBM Plex Sans" panose="020B0503050203000203" pitchFamily="34" charset="0"/>
      <p:regular r:id="rId16"/>
      <p:bold r:id="rId17"/>
      <p:italic r:id="rId18"/>
      <p:boldItalic r:id="rId19"/>
    </p:embeddedFont>
    <p:embeddedFont>
      <p:font typeface="IBM Plex Sans Medium" panose="020B0603050203000203" pitchFamily="34" charset="0"/>
      <p:regular r:id="rId20"/>
      <p: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41" userDrawn="1">
          <p15:clr>
            <a:srgbClr val="A4A3A4"/>
          </p15:clr>
        </p15:guide>
        <p15:guide id="2" pos="38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0000"/>
    <a:srgbClr val="D75822"/>
    <a:srgbClr val="F7C31B"/>
    <a:srgbClr val="E39124"/>
    <a:srgbClr val="861423"/>
    <a:srgbClr val="231F1D"/>
    <a:srgbClr val="CC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C06EED-B708-06D4-9485-87A26CCE633E}" v="216" dt="2025-10-22T00:51:13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841"/>
        <p:guide pos="3813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D474E6B-F66D-4187-A78A-E62FE97DC0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869A5D-A73C-4816-9E84-1A206A9966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DCFEC-F192-4051-B042-7D946D09B91F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69755-FADF-422C-9E25-03BA7A054B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2C11B-61EF-4324-8616-4927C1DEDA0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784DAE-0FEF-496E-A2D2-CF1A1C63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0203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8E6DCA-ADE0-4840-82A2-2C2E1E630D16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418F6-BE8A-0441-92DB-92FFAB9ED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3590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Replace the 0 with your group number – unlike the file names, do not include a leading zero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Replace Name with your full name (first and last)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716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In one sentence, describe your application at a high level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List the heuristics you applied (be brief) – use a bulleted list – terse is good – explanations/descriptions are not appropriate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61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describe the purpose for this class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use a bulleted list – 3 or 4 phrases max – no explanations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307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describe the purpose for this class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use a bulleted list – 3 or 4 phrases max – no explanations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285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What tripped you up? How did you resolve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a bulleted list – 3 or 4 brief talking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make an additional slide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827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3730A-0F41-E153-6D5F-DD868EDFE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601987-C96A-9BD8-51FE-8C4BBED39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6D9BE0-01B8-7CD3-C8FC-DBBC4AE387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What tripped you up? How did you resolve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a bulleted list – 3 or 4 brief talking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make an additional slide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262D4-B14F-9012-F10C-1B7E922690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728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13432-DF4F-EF07-F678-54BE0C40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0C263-7667-201C-ED73-76CE9730A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9EF98-6448-37B4-5482-4B34D3264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What tripped you up? How did you resolve it?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a bulleted list – 3 or 4 brief talking points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make an additional slide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ED712-20D8-6C4D-4A2E-B803251BA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6117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What did you learn?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What will you do differently in the next assignment based on what you learned in this one?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/>
              <a:t>use a bulleted list – 3 or 4 phrases – no explanations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1418F6-BE8A-0441-92DB-92FFAB9EDE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5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77B5-FFD3-5494-7682-9AAFD7AC2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"/>
            <a:ext cx="10515600" cy="1219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3C9B-3065-1DFE-EBF2-41591700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24E44C-B349-4AFD-93AD-40BCA198B7C4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E2A9F-3270-9B14-7C82-DE1B9C40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DD68C9E-9836-54FC-B8C5-750F9A044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300"/>
            <a:ext cx="10515600" cy="4419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16">
            <a:extLst>
              <a:ext uri="{FF2B5EF4-FFF2-40B4-BE49-F238E27FC236}">
                <a16:creationId xmlns:a16="http://schemas.microsoft.com/office/drawing/2014/main" id="{D24A21F7-E41E-8AA3-1742-EB644519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Summer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199785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04AAD0B-056C-1B31-31C5-C3BBBA0356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0579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10F75-FA59-46E5-9D12-6CC306C10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F12D0-160A-CC03-8FCB-9599B6D75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D1944-588D-F491-EBAB-66C4FA2D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lIns="0" rIns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AB76EE-9A0C-4D02-A578-2B47F185E126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ECB4D-F513-08B0-3FA9-9EC635AA8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8" name="Footer Placeholder 16">
            <a:extLst>
              <a:ext uri="{FF2B5EF4-FFF2-40B4-BE49-F238E27FC236}">
                <a16:creationId xmlns:a16="http://schemas.microsoft.com/office/drawing/2014/main" id="{41582465-68A5-E6EC-562B-062508AFB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Summer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1663492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7E6DA6-7EF9-CB04-3911-FB3F13623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200775" y="0"/>
            <a:ext cx="59912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 Medium" panose="020B0503050203000203" pitchFamily="34" charset="0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919E7-2BBE-3F4B-D84C-A03B76864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78253"/>
            <a:ext cx="4517049" cy="2177772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6000"/>
            </a:lvl1pPr>
          </a:lstStyle>
          <a:p>
            <a:r>
              <a:rPr lang="en-US"/>
              <a:t>Agenda Slide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6E42E0-CDF5-3394-1B80-8556E8F0C2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7237" y="1181185"/>
            <a:ext cx="4152900" cy="695325"/>
          </a:xfrm>
        </p:spPr>
        <p:txBody>
          <a:bodyPr anchor="ctr"/>
          <a:lstStyle>
            <a:lvl1pPr marL="0" indent="0"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BE75D2C-456B-2284-4412-B1284D3628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7237" y="2118605"/>
            <a:ext cx="4152900" cy="695325"/>
          </a:xfrm>
        </p:spPr>
        <p:txBody>
          <a:bodyPr anchor="ctr"/>
          <a:lstStyle>
            <a:lvl1pPr marL="0" indent="0"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F15D74-57A0-B3DE-5A87-8B7D57385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97237" y="3056025"/>
            <a:ext cx="4152900" cy="695325"/>
          </a:xfrm>
        </p:spPr>
        <p:txBody>
          <a:bodyPr anchor="ctr"/>
          <a:lstStyle>
            <a:lvl1pPr marL="0" indent="0"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EA12912-9C04-8FAE-517D-8CD06B66E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197237" y="3998758"/>
            <a:ext cx="4152900" cy="695325"/>
          </a:xfrm>
        </p:spPr>
        <p:txBody>
          <a:bodyPr anchor="ctr"/>
          <a:lstStyle>
            <a:lvl1pPr marL="0" indent="0"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DA4BE2B-D90D-FEF2-4A88-10D175DA3F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197237" y="4936178"/>
            <a:ext cx="4152900" cy="695325"/>
          </a:xfrm>
        </p:spPr>
        <p:txBody>
          <a:bodyPr anchor="ctr"/>
          <a:lstStyle>
            <a:lvl1pPr marL="0" indent="0"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0311519-B061-43AE-AB8F-84F1455B79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5374" y="1174715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0D13B1E-2AEF-874D-6AF8-764AD8EC4F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55374" y="2122918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CD1761F-D0E6-49C8-DCC9-6C323FC83F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5374" y="3061090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7FE4A208-29B0-486A-6787-2D8BABA45D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51711" y="3998758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835F2D7C-DC6F-B253-94A0-171DEDF052B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1711" y="4946961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9FD100-95BF-1869-E25D-56CE251B488E}"/>
              </a:ext>
            </a:extLst>
          </p:cNvPr>
          <p:cNvCxnSpPr>
            <a:cxnSpLocks/>
          </p:cNvCxnSpPr>
          <p:nvPr userDrawn="1"/>
        </p:nvCxnSpPr>
        <p:spPr>
          <a:xfrm>
            <a:off x="0" y="3429000"/>
            <a:ext cx="5355249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A5B71618-4F44-1249-88EA-2C77E52B9A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38200" y="3657600"/>
            <a:ext cx="4516438" cy="1905000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Insert Description Here</a:t>
            </a:r>
          </a:p>
          <a:p>
            <a:pPr lvl="0"/>
            <a:r>
              <a:rPr lang="en-US"/>
              <a:t>Month XX, 2023</a:t>
            </a:r>
          </a:p>
        </p:txBody>
      </p:sp>
    </p:spTree>
    <p:extLst>
      <p:ext uri="{BB962C8B-B14F-4D97-AF65-F5344CB8AC3E}">
        <p14:creationId xmlns:p14="http://schemas.microsoft.com/office/powerpoint/2010/main" val="597031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87E6DA6-7EF9-CB04-3911-FB3F136232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313873" y="0"/>
            <a:ext cx="68781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919E7-2BBE-3F4B-D84C-A03B768649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7290" y="181095"/>
            <a:ext cx="5636510" cy="733305"/>
          </a:xfrm>
        </p:spPr>
        <p:txBody>
          <a:bodyPr anchor="b" anchorCtr="0">
            <a:normAutofit/>
          </a:bodyPr>
          <a:lstStyle>
            <a:lvl1pPr>
              <a:lnSpc>
                <a:spcPct val="100000"/>
              </a:lnSpc>
              <a:defRPr sz="3200" b="1" i="0">
                <a:latin typeface="IBM Plex Sans" panose="020B0503050203000203" pitchFamily="34" charset="0"/>
              </a:defRPr>
            </a:lvl1pPr>
          </a:lstStyle>
          <a:p>
            <a:r>
              <a:rPr lang="en-US"/>
              <a:t>Agenda Slide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6E42E0-CDF5-3394-1B80-8556E8F0C2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3773" y="1895362"/>
            <a:ext cx="4152900" cy="69532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BE75D2C-456B-2284-4412-B1284D3628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53773" y="2832782"/>
            <a:ext cx="4152900" cy="69532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F15D74-57A0-B3DE-5A87-8B7D573858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3773" y="3770202"/>
            <a:ext cx="4152900" cy="69532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EA12912-9C04-8FAE-517D-8CD06B66E6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773" y="4712935"/>
            <a:ext cx="4152900" cy="69532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DA4BE2B-D90D-FEF2-4A88-10D175DA3FC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3773" y="5650355"/>
            <a:ext cx="4152900" cy="695325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Type in Item</a:t>
            </a:r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AACB71E-2C37-BE6F-EE16-98E38BF794B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313873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1C2FF576-F881-C228-F58A-9911F1AA69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20953" y="1895362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9F989D1-2238-D13B-9075-571A12E901E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20953" y="2843565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46EA492D-3ADB-FB27-CF54-112893E89B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20953" y="3781737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98ACE34C-F7D0-C48B-5BC1-2D8C8E732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17290" y="4719405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045F549-6A18-BFD7-A5F1-E7EE4C16E2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17290" y="5667608"/>
            <a:ext cx="750094" cy="695325"/>
          </a:xfrm>
        </p:spPr>
        <p:txBody>
          <a:bodyPr anchor="ctr">
            <a:normAutofit/>
          </a:bodyPr>
          <a:lstStyle>
            <a:lvl1pPr marL="0" indent="0" algn="r">
              <a:buNone/>
              <a:defRPr sz="40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6808891-4FE5-74B9-5FE6-AC6A92DFBB8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16588" y="914400"/>
            <a:ext cx="5637212" cy="457200"/>
          </a:xfrm>
        </p:spPr>
        <p:txBody>
          <a:bodyPr anchor="ctr"/>
          <a:lstStyle>
            <a:lvl1pPr marL="0" indent="0">
              <a:buFontTx/>
              <a:buNone/>
              <a:defRPr b="0" i="0">
                <a:latin typeface="IBM Plex Sans Medium" panose="020B0503050203000203" pitchFamily="34" charset="0"/>
              </a:defRPr>
            </a:lvl1pPr>
          </a:lstStyle>
          <a:p>
            <a:pPr lvl="0"/>
            <a:r>
              <a:rPr lang="en-US"/>
              <a:t>Month XX, 2023</a:t>
            </a:r>
          </a:p>
        </p:txBody>
      </p:sp>
    </p:spTree>
    <p:extLst>
      <p:ext uri="{BB962C8B-B14F-4D97-AF65-F5344CB8AC3E}">
        <p14:creationId xmlns:p14="http://schemas.microsoft.com/office/powerpoint/2010/main" val="407862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87FFE3D-ABB7-B9A4-863B-0F24C1FDB8EE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0" y="0"/>
            <a:ext cx="4495800" cy="6858000"/>
            <a:chOff x="0" y="0"/>
            <a:chExt cx="44958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28F2BA-0E08-FC37-8CC0-AE4B72DA35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3937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endParaRPr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BB9429A7-AE21-2337-0065-B7E7570698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rot="5400000">
              <a:off x="3568700" y="3130550"/>
              <a:ext cx="1257300" cy="596900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BM Plex Sans"/>
                <a:ea typeface="+mn-ea"/>
                <a:cs typeface="+mn-cs"/>
              </a:endParaRPr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E0312-56D9-E830-2ED9-99E078E9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2CFBC-8847-68FA-9589-C4B6F28E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86250" y="6378575"/>
            <a:ext cx="352425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5BE50-2655-DEDE-3C1B-911BCDA2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9C791-F1E3-DE2D-C6B8-5AEB42B4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5850"/>
            <a:ext cx="2794000" cy="4686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96F45DC4-4764-4997-D1FA-BC7EB37BB63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81574" y="1371600"/>
            <a:ext cx="6372225" cy="468629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285750" indent="-285750">
              <a:buFont typeface="Wingdings" panose="05000000000000000000" pitchFamily="2" charset="2"/>
              <a:buChar char="§"/>
              <a:defRPr sz="2000"/>
            </a:lvl1pPr>
            <a:lvl2pPr marL="742950" indent="-285750">
              <a:buFont typeface="Wingdings" panose="05000000000000000000" pitchFamily="2" charset="2"/>
              <a:buChar char="§"/>
              <a:defRPr sz="2000"/>
            </a:lvl2pPr>
            <a:lvl3pPr marL="1200150" indent="-285750">
              <a:buFont typeface="Wingdings" panose="05000000000000000000" pitchFamily="2" charset="2"/>
              <a:buChar char="§"/>
              <a:defRPr sz="2000"/>
            </a:lvl3pPr>
            <a:lvl4pPr marL="1657350" indent="-285750">
              <a:buFont typeface="Wingdings" panose="05000000000000000000" pitchFamily="2" charset="2"/>
              <a:buChar char="§"/>
              <a:defRPr sz="2000"/>
            </a:lvl4pPr>
            <a:lvl5pPr marL="2114550" indent="-285750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5CE805-C331-C2F5-9E7C-06269EB63D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" y="6425181"/>
            <a:ext cx="1664208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8E0312-56D9-E830-2ED9-99E078E9F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2CFBC-8847-68FA-9589-C4B6F28EA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62200" y="6378575"/>
            <a:ext cx="5448300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95BE50-2655-DEDE-3C1B-911BCDA2B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59C791-F1E3-DE2D-C6B8-5AEB42B4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5850"/>
            <a:ext cx="2794000" cy="4686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80891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41D24C-CF45-6D4D-9C90-F30A0680F4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838200" y="0"/>
            <a:ext cx="3429000" cy="6057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812959-A73B-4BE3-0D4F-FC30DB62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01"/>
            <a:ext cx="3429000" cy="2489199"/>
          </a:xfrm>
        </p:spPr>
        <p:txBody>
          <a:bodyPr lIns="274320"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309B7-350B-7404-6A2F-2FA92CBA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5F104-A36E-B60B-36D8-8A2B6535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432452-BABA-6AEA-F265-B948F1BB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A8BF0B-ED87-5F17-4D1E-DCEB25DFF292}"/>
              </a:ext>
            </a:extLst>
          </p:cNvPr>
          <p:cNvSpPr txBox="1">
            <a:spLocks/>
          </p:cNvSpPr>
          <p:nvPr userDrawn="1"/>
        </p:nvSpPr>
        <p:spPr>
          <a:xfrm>
            <a:off x="838200" y="3568701"/>
            <a:ext cx="3429000" cy="1892826"/>
          </a:xfrm>
          <a:prstGeom prst="rect">
            <a:avLst/>
          </a:prstGeom>
          <a:noFill/>
        </p:spPr>
        <p:txBody>
          <a:bodyPr wrap="square" lIns="274320" rIns="274320" bIns="128016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Click to add text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CF3F1012-7C43-E5C0-FDDF-63C1C2538E2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80000" y="1371600"/>
            <a:ext cx="6273800" cy="4139048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09282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AD866-0922-7F36-2550-F4502AC57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32000"/>
            <a:ext cx="4775200" cy="2273300"/>
          </a:xfrm>
        </p:spPr>
        <p:txBody>
          <a:bodyPr lIns="274320" rIns="91440" anchor="t" anchorCtr="0"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68290AAF-C0EA-AAF2-1A0B-9A9DB0E192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350089"/>
            <a:ext cx="3127524" cy="729411"/>
          </a:xfrm>
          <a:prstGeom prst="rect">
            <a:avLst/>
          </a:prstGeom>
        </p:spPr>
      </p:pic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E3DC7A43-7974-96CA-27F9-54B7FC565F1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38900" y="0"/>
            <a:ext cx="4902200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9965C-367E-3852-AFB4-734A0EA4FC5C}"/>
              </a:ext>
            </a:extLst>
          </p:cNvPr>
          <p:cNvSpPr/>
          <p:nvPr userDrawn="1"/>
        </p:nvSpPr>
        <p:spPr>
          <a:xfrm>
            <a:off x="0" y="2032000"/>
            <a:ext cx="838200" cy="7294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0A039BE-5AB4-BAE3-DF17-5E7C9078F6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4448175"/>
            <a:ext cx="4775200" cy="1609725"/>
          </a:xfrm>
        </p:spPr>
        <p:txBody>
          <a:bodyPr lIns="274320"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/>
              <a:t>Click to insert body text</a:t>
            </a:r>
          </a:p>
        </p:txBody>
      </p:sp>
    </p:spTree>
    <p:extLst>
      <p:ext uri="{BB962C8B-B14F-4D97-AF65-F5344CB8AC3E}">
        <p14:creationId xmlns:p14="http://schemas.microsoft.com/office/powerpoint/2010/main" val="3133309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556F4-6AA9-692C-D3B1-9F3D711AF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E409C-19CB-27F0-91C3-F7DFDE7D0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tIns="18288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CFDB0-954B-D252-1028-4A051EA5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D3B100-DB46-41C6-AD39-4ED699A9EEA0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77C60-5B92-D231-68BA-1F6FCD6BC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AD156-E0A7-8640-A937-1BB487A4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635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ellow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A2440-A61C-34CB-AE33-FEC53D5D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2192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73C95-899C-B937-A606-F2C76D7C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C27D4-3E54-126E-9187-8733CDEF3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BD3CA-511A-EF25-E9C7-00AA7862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B6F3EE-949C-F79E-39DA-3BD5AE61D6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24" y="6425181"/>
            <a:ext cx="1664208" cy="256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22AC-6203-C10A-A5C6-F012BC49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3775D-44B8-BF95-A1AD-183675C16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D3344-750A-B2C3-525D-3F2D2CDC2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2FCA49-8FB4-1534-C3B0-819D49E5A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23221AA-78C8-449A-A578-FD096E232DD3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1F8109-B1C7-D7CF-03D2-01A6C8807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36935-2111-14AD-52B6-5C7161C1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4224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5E263-D195-0C39-7016-FA841C893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0593"/>
            <a:ext cx="10515600" cy="12110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9917A-B19E-DF8E-CA3F-51A9E5B00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6E91FC-1C2F-6171-FD2C-A4A993BA1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198AA-0980-0D30-1107-D267CD056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47395-24F3-B9BF-BA80-8FB1A772B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AA2B09-CA37-2CAD-DBC6-9C822C29E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B89194-1B9B-43A8-8C15-136644C5F72A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12F75-DD00-EBEE-0843-0AA56F9C5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5F518-54D4-98E8-CAD9-97A12136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0722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B6F8-7E9E-42A2-47A0-EEC333A46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496"/>
            <a:ext cx="10515600" cy="12192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6DB3A4-BA4C-96A0-37CC-7FA63608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ADDF04-146C-3EEF-FBB3-CFB57A57A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319E59-E9BF-E1F4-A9D2-C5956BD4B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62380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BEBD7-8387-291F-1B5A-AD706437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596B2-615A-F103-0494-6EDE3220E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A981CE-3FCD-F48F-DC8F-5D0E555C4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56A69-7E23-77A3-6465-07C5E0679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5F9828-60C3-4945-AAF1-03CFE6C5EA3E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CAACD-C33E-45AA-664E-AFDA5CC3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A81FF-CD61-8C67-C5C6-AB3E0C85F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93661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4A8AE-D21F-DFB4-2BC4-CFA3329C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EDB473-564A-46B2-6827-1279AE31F89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83188" y="987425"/>
            <a:ext cx="6172200" cy="487362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>
                <a:latin typeface="+mn-lt"/>
              </a:rPr>
              <a:t>Click icon to insert photo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7E3F8C-E2D5-131B-3790-EC3193597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B0433-B0E3-122F-4187-53687D14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5C671F-A2CB-4986-B574-4B1CAE011885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1BEB-EB0C-8C07-6103-3F1E92EF5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C19C3-E896-D135-85CC-56262CA0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5525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46871E-3864-BCA8-AAC9-E6DEE26E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FC7812-3B0D-4D6A-8DAC-1655805F9513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E9751-F502-9A0A-3806-C20AEE515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5" name="Footer Placeholder 16">
            <a:extLst>
              <a:ext uri="{FF2B5EF4-FFF2-40B4-BE49-F238E27FC236}">
                <a16:creationId xmlns:a16="http://schemas.microsoft.com/office/drawing/2014/main" id="{70FC8CA4-C01D-7EC4-9362-CBC3CDCB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Summer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699726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4E357-EE73-5B27-0215-3718A7C91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121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BD2E6-801E-F826-9DDE-CF097D93F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38300"/>
            <a:ext cx="10515600" cy="4419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138D4-286D-80DE-13D1-A6371634E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65369" y="63706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1996551-6209-4D13-AAED-2DA18451A6EF}" type="datetime4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November 9, 2025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62809-99B7-4400-8684-B38E9EF62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0" y="6370636"/>
            <a:ext cx="495300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  |    </a:t>
            </a:r>
            <a:fld id="{E3A47162-8AA6-447A-A793-A1300F17B23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D6D54E-A3FB-9F00-3D86-5F9F59F13E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500" y="6425349"/>
            <a:ext cx="1647825" cy="253511"/>
          </a:xfrm>
          <a:prstGeom prst="rect">
            <a:avLst/>
          </a:prstGeom>
        </p:spPr>
      </p:pic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F1A49985-3F95-0934-E3DB-14E5472652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Summer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415498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0238" indent="-17303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7113" indent="-168275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484313" indent="-168275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01838" indent="-173038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6">
          <p15:clr>
            <a:srgbClr val="F26B43"/>
          </p15:clr>
        </p15:guide>
        <p15:guide id="2" pos="120">
          <p15:clr>
            <a:srgbClr val="F26B43"/>
          </p15:clr>
        </p15:guide>
        <p15:guide id="3" orient="horz" pos="3816">
          <p15:clr>
            <a:srgbClr val="F26B43"/>
          </p15:clr>
        </p15:guide>
        <p15:guide id="4" pos="7560">
          <p15:clr>
            <a:srgbClr val="F26B43"/>
          </p15:clr>
        </p15:guide>
        <p15:guide id="5" orient="horz" pos="864">
          <p15:clr>
            <a:srgbClr val="F26B43"/>
          </p15:clr>
        </p15:guide>
        <p15:guide id="6" orient="horz" pos="4248">
          <p15:clr>
            <a:srgbClr val="F26B43"/>
          </p15:clr>
        </p15:guide>
        <p15:guide id="7" pos="7152">
          <p15:clr>
            <a:srgbClr val="F26B43"/>
          </p15:clr>
        </p15:guide>
        <p15:guide id="8" orient="horz" pos="4008">
          <p15:clr>
            <a:srgbClr val="F26B43"/>
          </p15:clr>
        </p15:guide>
        <p15:guide id="9" pos="52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958D0D-13CD-4E9E-999C-67E545814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Comp 2000, Data Structures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8BAAFCC7-2BFA-441E-91AF-9718802D9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/>
              <a:t>Project 1: Bag App</a:t>
            </a:r>
            <a:br>
              <a:rPr lang="en-US" sz="3200"/>
            </a:br>
            <a:r>
              <a:rPr lang="en-US" sz="3200"/>
              <a:t>Grocery Bagger</a:t>
            </a:r>
          </a:p>
          <a:p>
            <a:pPr marL="0" indent="0">
              <a:buNone/>
            </a:pPr>
            <a:r>
              <a:rPr lang="en-US" sz="3200"/>
              <a:t>Group 11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  <a:tabLst>
                <a:tab pos="2286000" algn="l"/>
              </a:tabLst>
            </a:pPr>
            <a:r>
              <a:rPr lang="en-US" sz="2800"/>
              <a:t>BagIt:	Gurveer Sidhu &lt;sidhug@wit.edu&gt;</a:t>
            </a:r>
          </a:p>
          <a:p>
            <a:pPr marL="0" indent="0">
              <a:buNone/>
              <a:tabLst>
                <a:tab pos="2286000" algn="l"/>
              </a:tabLst>
            </a:pPr>
            <a:r>
              <a:rPr lang="en-US" sz="2800"/>
              <a:t>GroceryBag:	Quinn Lane &lt;laneq@wit.edu&gt;</a:t>
            </a:r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D11AA2DA-36C1-2CC0-BB29-2C990CCA6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7DF90C-C7CA-42F4-9C87-242AF679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D8F99-5D30-40E7-8546-4E884E15234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197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0627B-0F92-E70C-C3EE-9505F4599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200"/>
              <a:t>Our application takes in a file containing shopping cart data, parses it, and then computes the optimal bagging permutation to ensure that all the bags are used as efficiently as possible.</a:t>
            </a:r>
          </a:p>
          <a:p>
            <a:r>
              <a:rPr lang="en-US" sz="3200"/>
              <a:t>Our 5 Heuristics (all rules are commutative)</a:t>
            </a:r>
          </a:p>
          <a:p>
            <a:pPr lvl="1"/>
            <a:r>
              <a:rPr lang="en-US" sz="3000"/>
              <a:t>Rule 1: </a:t>
            </a:r>
            <a:r>
              <a:rPr lang="en-GB" sz="3000"/>
              <a:t>Heavy items cannot go with soft items</a:t>
            </a:r>
            <a:endParaRPr lang="en-US" sz="3000"/>
          </a:p>
          <a:p>
            <a:pPr lvl="1"/>
            <a:r>
              <a:rPr lang="en-US" sz="3000"/>
              <a:t>Rule 2: </a:t>
            </a:r>
            <a:r>
              <a:rPr lang="en-GB" sz="3000"/>
              <a:t>Heavy items cannot go with breakable items</a:t>
            </a:r>
            <a:endParaRPr lang="en-US" sz="3000"/>
          </a:p>
          <a:p>
            <a:pPr lvl="1"/>
            <a:r>
              <a:rPr lang="en-US" sz="3000"/>
              <a:t>Rule 3: </a:t>
            </a:r>
            <a:r>
              <a:rPr lang="en-GB" sz="3000"/>
              <a:t>Perishable items cannot go with non-perishable items</a:t>
            </a:r>
            <a:endParaRPr lang="en-US" sz="3000"/>
          </a:p>
          <a:p>
            <a:pPr lvl="1"/>
            <a:r>
              <a:rPr lang="en-US" sz="3000"/>
              <a:t>Rule 4: </a:t>
            </a:r>
            <a:r>
              <a:rPr lang="en-GB" sz="3000"/>
              <a:t>Flexible items cannot go with hard items</a:t>
            </a:r>
            <a:endParaRPr lang="en-US" sz="3000"/>
          </a:p>
          <a:p>
            <a:pPr lvl="1"/>
            <a:r>
              <a:rPr lang="en-US" sz="3000"/>
              <a:t>Rule 5: </a:t>
            </a:r>
            <a:r>
              <a:rPr lang="en-GB" sz="3000"/>
              <a:t>Extra-large items cannot go with small items</a:t>
            </a:r>
            <a:endParaRPr lang="en-US" sz="30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Footer Placeholder 16">
            <a:extLst>
              <a:ext uri="{FF2B5EF4-FFF2-40B4-BE49-F238E27FC236}">
                <a16:creationId xmlns:a16="http://schemas.microsoft.com/office/drawing/2014/main" id="{4EFA3828-D329-68D2-6A78-B9EBD09D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312563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BagIt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A0959-D476-DAF6-AB6B-F65C778AF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ea typeface="+mn-lt"/>
                <a:cs typeface="+mn-lt"/>
              </a:rPr>
              <a:t>Serves as the main driver for the grocery bagging application.</a:t>
            </a:r>
            <a:endParaRPr lang="en-US" sz="3200"/>
          </a:p>
          <a:p>
            <a:r>
              <a:rPr lang="en-US" sz="3200">
                <a:ea typeface="+mn-lt"/>
                <a:cs typeface="+mn-lt"/>
              </a:rPr>
              <a:t>Reads all grocery items from the input data file.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Implements the core heuristic for sorting items into bags.</a:t>
            </a:r>
            <a:endParaRPr lang="en-US"/>
          </a:p>
          <a:p>
            <a:r>
              <a:rPr lang="en-US" sz="3200">
                <a:ea typeface="+mn-lt"/>
                <a:cs typeface="+mn-lt"/>
              </a:rPr>
              <a:t>Displays the final contents of all bags in the shopping cart.</a:t>
            </a:r>
            <a:endParaRPr lang="en-US"/>
          </a:p>
          <a:p>
            <a:endParaRPr lang="en-US" sz="3200"/>
          </a:p>
          <a:p>
            <a:endParaRPr lang="en-US" sz="32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Footer Placeholder 16">
            <a:extLst>
              <a:ext uri="{FF2B5EF4-FFF2-40B4-BE49-F238E27FC236}">
                <a16:creationId xmlns:a16="http://schemas.microsoft.com/office/drawing/2014/main" id="{C341D5A6-E0A9-C9E3-3AD9-672053C4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3193928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GroceryBag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8ED3E-2CE0-660F-8573-AECAC7D2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/>
              <a:t>This class provides the specification for each grocery bag and also validates the items put in a bag to make sure it does not break any of the set rules we put forth.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6B8659E5-938A-D6C6-E3EB-B62A26FB0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1139259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D0697-FA01-29BF-1B62-EA88A15E0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/>
              <a:t>Having to plug into existing code and figure out how it worked on the fly was a bit confusing</a:t>
            </a:r>
          </a:p>
          <a:p>
            <a:pPr lvl="1"/>
            <a:r>
              <a:rPr lang="en-US" sz="3000"/>
              <a:t>I had to spend some time diving into the code that was already written and figure out how it parsed the data and constructed the </a:t>
            </a:r>
            <a:r>
              <a:rPr lang="en-US" sz="3000" err="1"/>
              <a:t>GroceryItems</a:t>
            </a:r>
            <a:r>
              <a:rPr lang="en-US" sz="3000"/>
              <a:t>, which allowed me to have a better understanding of the underlying code that I was plugging into and write a simpler solution.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BB2CFB28-C814-DCF8-40B5-3B76D3055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2387268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0EAFD-A771-C74F-0329-C1F5213B7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87F49-507B-2075-12B4-332B4213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FB2B7-CD76-2C48-1A82-68A9E1AF2F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8300"/>
            <a:ext cx="10926365" cy="47470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Issue: The logic for tracking which bags were "open" versus "full" was becoming complex.</a:t>
            </a:r>
            <a:br>
              <a:rPr lang="en-US">
                <a:latin typeface="IBM Plex Sans"/>
                <a:cs typeface="Times New Roman"/>
              </a:rPr>
            </a:br>
            <a:br>
              <a:rPr lang="en-US">
                <a:latin typeface="IBM Plex Sans"/>
                <a:cs typeface="Times New Roman"/>
              </a:rPr>
            </a:br>
            <a:r>
              <a:rPr lang="en-US">
                <a:latin typeface="Consolas"/>
                <a:cs typeface="Times New Roman"/>
              </a:rPr>
              <a:t>We </a:t>
            </a:r>
            <a:r>
              <a:rPr lang="en-US">
                <a:latin typeface="IBM Plex Sans"/>
                <a:cs typeface="Times New Roman"/>
              </a:rPr>
              <a:t>created two separate lists: </a:t>
            </a:r>
            <a:r>
              <a:rPr lang="en-US" err="1">
                <a:latin typeface="Consolas"/>
                <a:cs typeface="Times New Roman"/>
              </a:rPr>
              <a:t>baggingArea</a:t>
            </a:r>
            <a:r>
              <a:rPr lang="en-US">
                <a:latin typeface="IBM Plex Sans"/>
                <a:cs typeface="Times New Roman"/>
              </a:rPr>
              <a:t> for active bags and </a:t>
            </a:r>
            <a:r>
              <a:rPr lang="en-US" err="1">
                <a:latin typeface="Consolas"/>
                <a:cs typeface="Times New Roman"/>
              </a:rPr>
              <a:t>shoppingCart</a:t>
            </a:r>
            <a:r>
              <a:rPr lang="en-US">
                <a:latin typeface="IBM Plex Sans"/>
                <a:cs typeface="Times New Roman"/>
              </a:rPr>
              <a:t> for completed bags.</a:t>
            </a:r>
            <a:endParaRPr lang="en-US">
              <a:latin typeface="Consolas"/>
              <a:cs typeface="Times New Roman"/>
            </a:endParaRPr>
          </a:p>
          <a:p>
            <a:pPr marL="457200" indent="-457200">
              <a:buFont typeface="Arial" panose="05000000000000000000" pitchFamily="2" charset="2"/>
              <a:buChar char="•"/>
            </a:pPr>
            <a:r>
              <a:rPr lang="en-US">
                <a:ea typeface="+mn-lt"/>
                <a:cs typeface="+mn-lt"/>
              </a:rPr>
              <a:t>Issue: Removing a bag from the </a:t>
            </a:r>
            <a:r>
              <a:rPr lang="en-US" err="1">
                <a:latin typeface="Consolas"/>
                <a:cs typeface="Times New Roman"/>
              </a:rPr>
              <a:t>baggingArea</a:t>
            </a:r>
            <a:r>
              <a:rPr lang="en-US">
                <a:ea typeface="+mn-lt"/>
                <a:cs typeface="+mn-lt"/>
              </a:rPr>
              <a:t> (either because it's full or during the final cleanup) while looping through it can cause a </a:t>
            </a:r>
            <a:r>
              <a:rPr lang="en-US" err="1">
                <a:latin typeface="Consolas"/>
                <a:cs typeface="Times New Roman"/>
              </a:rPr>
              <a:t>ConcurrentModificationException</a:t>
            </a:r>
            <a:r>
              <a:rPr lang="en-US">
                <a:latin typeface="Consolas"/>
                <a:cs typeface="Times New Roman"/>
              </a:rPr>
              <a:t>.</a:t>
            </a:r>
            <a:br>
              <a:rPr lang="en-US">
                <a:latin typeface="Consolas"/>
                <a:cs typeface="Times New Roman"/>
              </a:rPr>
            </a:br>
            <a:br>
              <a:rPr lang="en-US">
                <a:latin typeface="Consolas"/>
                <a:cs typeface="Times New Roman"/>
              </a:rPr>
            </a:br>
            <a:r>
              <a:rPr lang="en-US">
                <a:ea typeface="+mn-lt"/>
                <a:cs typeface="+mn-lt"/>
              </a:rPr>
              <a:t>Implemented a custom </a:t>
            </a:r>
            <a:r>
              <a:rPr lang="en-US" err="1">
                <a:latin typeface="Consolas"/>
                <a:ea typeface="+mn-lt"/>
                <a:cs typeface="Times New Roman"/>
              </a:rPr>
              <a:t>NotBaggableException</a:t>
            </a:r>
            <a:r>
              <a:rPr lang="en-US">
                <a:ea typeface="+mn-lt"/>
                <a:cs typeface="+mn-lt"/>
              </a:rPr>
              <a:t> to handle this specific edge case and prevent the program from failing unpredictably.</a:t>
            </a:r>
            <a:endParaRPr lang="en-US">
              <a:latin typeface="Consolas"/>
              <a:ea typeface="+mn-lt"/>
              <a:cs typeface="Times New Roman"/>
            </a:endParaRPr>
          </a:p>
          <a:p>
            <a:pPr marL="457200" indent="-457200">
              <a:buFont typeface="Arial" panose="05000000000000000000" pitchFamily="2" charset="2"/>
              <a:buChar char="•"/>
            </a:pPr>
            <a:r>
              <a:rPr lang="en-US">
                <a:latin typeface="IBM Plex Sans"/>
                <a:ea typeface="+mn-lt"/>
                <a:cs typeface="Times New Roman"/>
              </a:rPr>
              <a:t>We used a Java </a:t>
            </a:r>
            <a:r>
              <a:rPr lang="en-US" b="1">
                <a:latin typeface="Consolas"/>
                <a:ea typeface="+mn-lt"/>
                <a:cs typeface="Times New Roman"/>
              </a:rPr>
              <a:t>Iterator</a:t>
            </a:r>
            <a:r>
              <a:rPr lang="en-US">
                <a:latin typeface="IBM Plex Sans"/>
                <a:ea typeface="+mn-lt"/>
                <a:cs typeface="Times New Roman"/>
              </a:rPr>
              <a:t>. The </a:t>
            </a:r>
            <a:r>
              <a:rPr lang="en-US" err="1">
                <a:latin typeface="Consolas"/>
                <a:ea typeface="+mn-lt"/>
                <a:cs typeface="Times New Roman"/>
              </a:rPr>
              <a:t>iterator.remove</a:t>
            </a:r>
            <a:r>
              <a:rPr lang="en-US">
                <a:latin typeface="Consolas"/>
                <a:ea typeface="+mn-lt"/>
                <a:cs typeface="Times New Roman"/>
              </a:rPr>
              <a:t>()</a:t>
            </a:r>
            <a:r>
              <a:rPr lang="en-US">
                <a:latin typeface="IBM Plex Sans"/>
                <a:ea typeface="+mn-lt"/>
                <a:cs typeface="Times New Roman"/>
              </a:rPr>
              <a:t> method is the only safe way to modify a collection while iterating over it, preventing the program from crashing.</a:t>
            </a:r>
          </a:p>
          <a:p>
            <a:endParaRPr lang="en-US" sz="3000">
              <a:latin typeface="IBM Plex Sans"/>
              <a:cs typeface="Times New Roman"/>
            </a:endParaRPr>
          </a:p>
          <a:p>
            <a:endParaRPr lang="en-US">
              <a:latin typeface="IBM Plex Sans"/>
              <a:cs typeface="Times New Roman"/>
            </a:endParaRPr>
          </a:p>
          <a:p>
            <a:pPr marL="457200" indent="-457200">
              <a:buFont typeface="Arial" panose="05000000000000000000" pitchFamily="2" charset="2"/>
              <a:buChar char="•"/>
            </a:pPr>
            <a:endParaRPr lang="en-US">
              <a:latin typeface="Consolas"/>
              <a:cs typeface="Times New Roman"/>
            </a:endParaRPr>
          </a:p>
          <a:p>
            <a:endParaRPr lang="en-US">
              <a:latin typeface="Consolas"/>
              <a:cs typeface="Times New Roman"/>
            </a:endParaRPr>
          </a:p>
          <a:p>
            <a:pPr marL="457200" indent="-457200">
              <a:buFont typeface="Arial" panose="05000000000000000000" pitchFamily="2" charset="2"/>
              <a:buChar char="•"/>
            </a:pPr>
            <a:endParaRPr lang="en-US">
              <a:latin typeface="Consolas"/>
              <a:cs typeface="Times New Roman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40CBF-7D73-2ADF-88E4-6B4531D3C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69481E42-FF8E-C631-844D-EFB58CC6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240272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221A4-739F-0B9D-231B-DA26B6EEB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4D16A-A67F-0ED4-6B04-1E4EC552E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Issues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B4BC7-27F9-8F3B-AE01-27012BE9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5000000000000000000" pitchFamily="2" charset="2"/>
              <a:buChar char="•"/>
            </a:pPr>
            <a:r>
              <a:rPr lang="en-US" sz="3200"/>
              <a:t>Problem 3: </a:t>
            </a:r>
            <a:r>
              <a:rPr lang="en-US" sz="3200">
                <a:ea typeface="+mn-lt"/>
                <a:cs typeface="+mn-lt"/>
              </a:rPr>
              <a:t>An item might be defined as too heavy or large to fit even in a completely empty bag.</a:t>
            </a:r>
            <a:endParaRPr lang="en-US" sz="3000">
              <a:ea typeface="+mn-lt"/>
              <a:cs typeface="+mn-lt"/>
            </a:endParaRPr>
          </a:p>
          <a:p>
            <a:pPr>
              <a:buFont typeface="Arial" panose="05000000000000000000" pitchFamily="2" charset="2"/>
              <a:buChar char="•"/>
            </a:pPr>
            <a:r>
              <a:rPr lang="en-US" sz="3000">
                <a:ea typeface="+mn-lt"/>
                <a:cs typeface="+mn-lt"/>
              </a:rPr>
              <a:t>If an item fails to be added to a new, empty bag, the program throws a </a:t>
            </a:r>
            <a:r>
              <a:rPr lang="en-US" sz="3000" b="1" err="1">
                <a:latin typeface="Consolas"/>
              </a:rPr>
              <a:t>NotBaggableException</a:t>
            </a:r>
            <a:r>
              <a:rPr lang="en-US" sz="3000" b="1">
                <a:latin typeface="Consolas"/>
              </a:rPr>
              <a:t>.</a:t>
            </a:r>
            <a:endParaRPr lang="en-US" sz="3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720D-8298-C45B-3705-4AB23610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375F3FF9-1B3F-5012-C07C-0B33211F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3035999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Take-</a:t>
            </a:r>
            <a:r>
              <a:rPr lang="en-US" err="1"/>
              <a:t>aways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B65D-CD88-7375-3124-2D6298EA6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onsolas"/>
              </a:rPr>
              <a:t>What I learned</a:t>
            </a:r>
            <a:r>
              <a:rPr lang="en-US">
                <a:latin typeface="Consolas"/>
                <a:ea typeface="+mn-lt"/>
                <a:cs typeface="+mn-lt"/>
              </a:rPr>
              <a:t>: The importance of custom exceptions (</a:t>
            </a:r>
            <a:r>
              <a:rPr lang="en-US" err="1">
                <a:latin typeface="Consolas"/>
              </a:rPr>
              <a:t>NotBaggableException</a:t>
            </a:r>
            <a:r>
              <a:rPr lang="en-US">
                <a:latin typeface="Consolas"/>
                <a:ea typeface="+mn-lt"/>
                <a:cs typeface="+mn-lt"/>
              </a:rPr>
              <a:t>) to handle specific edge cases gracefully.</a:t>
            </a:r>
          </a:p>
          <a:p>
            <a:r>
              <a:rPr lang="en-US">
                <a:latin typeface="Consolas"/>
                <a:ea typeface="+mn-lt"/>
                <a:cs typeface="+mn-lt"/>
              </a:rPr>
              <a:t>Write small tests for the core logic (like the packing heuristic) before building the full application.</a:t>
            </a:r>
          </a:p>
          <a:p>
            <a:endParaRPr lang="en-US">
              <a:latin typeface="Consola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0F917E-6FDE-4FD9-8F37-399456B75B4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Footer Placeholder 16">
            <a:extLst>
              <a:ext uri="{FF2B5EF4-FFF2-40B4-BE49-F238E27FC236}">
                <a16:creationId xmlns:a16="http://schemas.microsoft.com/office/drawing/2014/main" id="{6299B630-77A3-CDE5-1E51-345BB3D2E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5031" y="6378575"/>
            <a:ext cx="56554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Comp 2000 – Fall 2025 ~ Project 1 Part 3</a:t>
            </a:r>
          </a:p>
        </p:txBody>
      </p:sp>
    </p:spTree>
    <p:extLst>
      <p:ext uri="{BB962C8B-B14F-4D97-AF65-F5344CB8AC3E}">
        <p14:creationId xmlns:p14="http://schemas.microsoft.com/office/powerpoint/2010/main" val="4161637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WIT PPT Palette">
      <a:dk1>
        <a:sysClr val="windowText" lastClr="000000"/>
      </a:dk1>
      <a:lt1>
        <a:sysClr val="window" lastClr="FFFFFF"/>
      </a:lt1>
      <a:dk2>
        <a:srgbClr val="444444"/>
      </a:dk2>
      <a:lt2>
        <a:srgbClr val="F8F8F8"/>
      </a:lt2>
      <a:accent1>
        <a:srgbClr val="FFCB05"/>
      </a:accent1>
      <a:accent2>
        <a:srgbClr val="349EA0"/>
      </a:accent2>
      <a:accent3>
        <a:srgbClr val="D44241"/>
      </a:accent3>
      <a:accent4>
        <a:srgbClr val="FBAA19"/>
      </a:accent4>
      <a:accent5>
        <a:srgbClr val="42A2DA"/>
      </a:accent5>
      <a:accent6>
        <a:srgbClr val="7B9EBD"/>
      </a:accent6>
      <a:hlink>
        <a:srgbClr val="6282D9"/>
      </a:hlink>
      <a:folHlink>
        <a:srgbClr val="E24338"/>
      </a:folHlink>
    </a:clrScheme>
    <a:fontScheme name="2022 WIT Fonts">
      <a:majorFont>
        <a:latin typeface="IBM Plex Sans 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41A4765-8EED-D943-90AB-07AC269537E4}" vid="{72AB4AA5-8283-FE42-BB59-C198EF90A1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811</Words>
  <Application>Microsoft Office PowerPoint</Application>
  <PresentationFormat>Widescreen</PresentationFormat>
  <Paragraphs>82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Comp 2000, Data Structures</vt:lpstr>
      <vt:lpstr>Application</vt:lpstr>
      <vt:lpstr>BagIt Class</vt:lpstr>
      <vt:lpstr>GroceryBag Class</vt:lpstr>
      <vt:lpstr>Issues and Solutions</vt:lpstr>
      <vt:lpstr>Issues and Solutions</vt:lpstr>
      <vt:lpstr>Issues and Solutions</vt:lpstr>
      <vt:lpstr>Take-aways</vt:lpstr>
    </vt:vector>
  </TitlesOfParts>
  <Company>Wentworth Institute of Technology, School of Computing and Data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 2000, Data Structures ~ Project 1 ~ Bag Application ~ Grocery Bagger ~ Group Presentation</dc:title>
  <dc:subject>Project 1 Part 3 ~ Bag App ~ Group Presentation</dc:subject>
  <dc:creator>"David Rosenberg (WIT CS&amp;N)" &lt;RosenbergD@WIT.edu&gt;</dc:creator>
  <cp:lastModifiedBy>Lane, Quinn</cp:lastModifiedBy>
  <cp:revision>2</cp:revision>
  <dcterms:created xsi:type="dcterms:W3CDTF">2014-11-15T19:56:05Z</dcterms:created>
  <dcterms:modified xsi:type="dcterms:W3CDTF">2025-11-10T04:40:49Z</dcterms:modified>
</cp:coreProperties>
</file>